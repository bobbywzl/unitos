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4.1</c:v>
                </c:pt>
                <c:pt idx="2">
                  <c:v>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2.0</c:v>
                </c:pt>
                <c:pt idx="1">
                  <c:v>2.1</c:v>
                </c:pt>
                <c:pt idx="2">
                  <c:v>2.1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number.</a:t>
            </a:r>
          </a:p>
          <a:p>
            <a:r>
              <a:t>Then the two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 Q3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Revenue, costs &amp; outlook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12% year over year</a:t>
            </a:r>
          </a:p>
          <a:p>
            <a:pPr lvl="1"/>
            <a:r>
              <a:t>Driven by enterprise deals</a:t>
            </a:r>
          </a:p>
          <a:p>
            <a:pPr/>
            <a:r>
              <a:rPr b="1">
                <a:solidFill>
                  <a:srgbClr val="C0392B"/>
                </a:solidFill>
              </a:rPr>
              <a:t>Churn fell to 3.1%</a:t>
            </a:r>
          </a:p>
          <a:p>
            <a:pPr/>
            <a:r>
              <a:t>Costs flat	vs plan</a:t>
            </a:r>
          </a:p>
        </p:txBody>
      </p:sp>
      <p:pic>
        <p:nvPicPr>
          <p:cNvPr id="4" name="Picture 3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548640">
                <a:tc rowSpan="2">
                  <a:txBody>
                    <a:bodyPr/>
                    <a:lstStyle/>
                    <a:p>
                      <a:r>
                        <a:t>Revenue &amp;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$4.6M</a:t>
                      </a:r>
                    </a:p>
                  </a:txBody>
                  <a:tcPr/>
                </a:tc>
              </a:tr>
              <a:tr h="54864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858000" y="1463040"/>
            <a:ext cx="3657600" cy="1097280"/>
          </a:xfrm>
          <a:prstGeom prst="roundRect">
            <a:avLst/>
          </a:prstGeom>
          <a:solidFill>
            <a:srgbClr val="2E86A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/>
              <a:t>Callout: &lt;margin&gt; up 2 pts</a:t>
            </a:r>
          </a:p>
        </p:txBody>
      </p:sp>
      <p:sp>
        <p:nvSpPr>
          <p:cNvPr id="5" name="Oval 4"/>
          <p:cNvSpPr/>
          <p:nvPr/>
        </p:nvSpPr>
        <p:spPr>
          <a:xfrm>
            <a:off x="6858000" y="2926080"/>
            <a:ext cx="1371600" cy="1371600"/>
          </a:xfrm>
          <a:prstGeom prst="ellipse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40080" y="3840480"/>
            <a:ext cx="5486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8686800" y="2926080"/>
            <a:ext cx="2468880" cy="548640"/>
            <a:chOff x="8686800" y="2926080"/>
            <a:chExt cx="2468880" cy="548640"/>
          </a:xfrm>
        </p:grpSpPr>
        <p:sp>
          <p:nvSpPr>
            <p:cNvPr id="8" name="Rectangle 7"/>
            <p:cNvSpPr/>
            <p:nvPr/>
          </p:nvSpPr>
          <p:spPr>
            <a:xfrm>
              <a:off x="8686800" y="2926080"/>
              <a:ext cx="1097280" cy="5486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058400" y="2926080"/>
              <a:ext cx="1097280" cy="5486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4008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200"/>
              <a:t>Footnote: figures unaudited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98079" y="146304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t>Ship pricing update</a:t>
            </a:r>
          </a:p>
          <a:p>
            <a:pPr marL="342900" indent="-342900">
              <a:buAutoNum type="arabicPeriod"/>
            </a:pPr>
            <a:r>
              <a:t>Hire two AEs</a:t>
            </a:r>
          </a:p>
          <a:p>
            <a:pPr marL="342900" indent="-342900">
              <a:buAutoNum type="arabicPeriod"/>
            </a:pPr>
            <a:r>
              <a:t>Renew top 5 accounts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